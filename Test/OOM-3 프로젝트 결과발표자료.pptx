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4" r:id="rId12"/>
    <p:sldId id="275" r:id="rId13"/>
    <p:sldId id="276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7" r:id="rId23"/>
    <p:sldId id="278" r:id="rId2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714" y="108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presProps" Target="presProps.xml"  /><Relationship Id="rId26" Type="http://schemas.openxmlformats.org/officeDocument/2006/relationships/viewProps" Target="viewProps.xml"  /><Relationship Id="rId27" Type="http://schemas.openxmlformats.org/officeDocument/2006/relationships/theme" Target="theme/theme1.xml"  /><Relationship Id="rId28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.png"  /><Relationship Id="rId11" Type="http://schemas.openxmlformats.org/officeDocument/2006/relationships/image" Target="../media/image8.png"  /><Relationship Id="rId12" Type="http://schemas.openxmlformats.org/officeDocument/2006/relationships/image" Target="../media/image5.png"  /><Relationship Id="rId13" Type="http://schemas.openxmlformats.org/officeDocument/2006/relationships/image" Target="../media/image9.png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Relationship Id="rId6" Type="http://schemas.openxmlformats.org/officeDocument/2006/relationships/image" Target="../media/image5.png"  /><Relationship Id="rId7" Type="http://schemas.openxmlformats.org/officeDocument/2006/relationships/image" Target="../media/image7.png"  /><Relationship Id="rId8" Type="http://schemas.openxmlformats.org/officeDocument/2006/relationships/image" Target="../media/image3.png"  /><Relationship Id="rId9" Type="http://schemas.openxmlformats.org/officeDocument/2006/relationships/image" Target="../media/image8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8.png"  /><Relationship Id="rId6" Type="http://schemas.openxmlformats.org/officeDocument/2006/relationships/image" Target="../media/image1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2.png"  /><Relationship Id="rId9" Type="http://schemas.openxmlformats.org/officeDocument/2006/relationships/image" Target="../media/image24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Relationship Id="rId3" Type="http://schemas.openxmlformats.org/officeDocument/2006/relationships/image" Target="../media/image26.png"  /><Relationship Id="rId4" Type="http://schemas.openxmlformats.org/officeDocument/2006/relationships/image" Target="../media/image2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Relationship Id="rId3" Type="http://schemas.openxmlformats.org/officeDocument/2006/relationships/image" Target="../media/image28.png"  /><Relationship Id="rId4" Type="http://schemas.openxmlformats.org/officeDocument/2006/relationships/image" Target="../media/image29.png"  /><Relationship Id="rId5" Type="http://schemas.openxmlformats.org/officeDocument/2006/relationships/image" Target="../media/image30.png"  /><Relationship Id="rId6" Type="http://schemas.openxmlformats.org/officeDocument/2006/relationships/image" Target="../media/image23.png"  /><Relationship Id="rId7" Type="http://schemas.openxmlformats.org/officeDocument/2006/relationships/image" Target="../media/image22.png"  /><Relationship Id="rId8" Type="http://schemas.openxmlformats.org/officeDocument/2006/relationships/image" Target="../media/image31.png"  /><Relationship Id="rId9" Type="http://schemas.openxmlformats.org/officeDocument/2006/relationships/image" Target="../media/image3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Relationship Id="rId6" Type="http://schemas.openxmlformats.org/officeDocument/2006/relationships/image" Target="../media/image3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42.png"  /><Relationship Id="rId7" Type="http://schemas.openxmlformats.org/officeDocument/2006/relationships/image" Target="../media/image43.png"  /><Relationship Id="rId8" Type="http://schemas.openxmlformats.org/officeDocument/2006/relationships/image" Target="../media/image4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5.png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40.png"  /><Relationship Id="rId5" Type="http://schemas.openxmlformats.org/officeDocument/2006/relationships/image" Target="../media/image41.png"  /><Relationship Id="rId6" Type="http://schemas.openxmlformats.org/officeDocument/2006/relationships/image" Target="../media/image48.png"  /><Relationship Id="rId7" Type="http://schemas.openxmlformats.org/officeDocument/2006/relationships/image" Target="../media/image4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0.png"  /><Relationship Id="rId3" Type="http://schemas.openxmlformats.org/officeDocument/2006/relationships/image" Target="../media/image51.png"  /><Relationship Id="rId4" Type="http://schemas.openxmlformats.org/officeDocument/2006/relationships/image" Target="../media/image5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3.png"  /><Relationship Id="rId3" Type="http://schemas.openxmlformats.org/officeDocument/2006/relationships/image" Target="../media/image54.png"  /><Relationship Id="rId4" Type="http://schemas.openxmlformats.org/officeDocument/2006/relationships/image" Target="../media/image55.png"  /><Relationship Id="rId5" Type="http://schemas.openxmlformats.org/officeDocument/2006/relationships/image" Target="../media/image56.png"  /><Relationship Id="rId6" Type="http://schemas.openxmlformats.org/officeDocument/2006/relationships/image" Target="../media/image57.png"  /><Relationship Id="rId7" Type="http://schemas.openxmlformats.org/officeDocument/2006/relationships/image" Target="../media/image58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9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0.png"  /><Relationship Id="rId3" Type="http://schemas.openxmlformats.org/officeDocument/2006/relationships/image" Target="../media/image38.png"  /><Relationship Id="rId4" Type="http://schemas.openxmlformats.org/officeDocument/2006/relationships/image" Target="../media/image39.png"  /><Relationship Id="rId5" Type="http://schemas.openxmlformats.org/officeDocument/2006/relationships/image" Target="../media/image40.png"  /><Relationship Id="rId6" Type="http://schemas.openxmlformats.org/officeDocument/2006/relationships/image" Target="../media/image41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Relationship Id="rId3" Type="http://schemas.openxmlformats.org/officeDocument/2006/relationships/image" Target="../media/image39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Relationship Id="rId6" Type="http://schemas.openxmlformats.org/officeDocument/2006/relationships/image" Target="../media/image40.png"  /><Relationship Id="rId7" Type="http://schemas.openxmlformats.org/officeDocument/2006/relationships/image" Target="../media/image41.png"  /><Relationship Id="rId8" Type="http://schemas.openxmlformats.org/officeDocument/2006/relationships/image" Target="../media/image6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5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6.png"  /><Relationship Id="rId3" Type="http://schemas.openxmlformats.org/officeDocument/2006/relationships/image" Target="../media/image67.png"  /><Relationship Id="rId4" Type="http://schemas.openxmlformats.org/officeDocument/2006/relationships/image" Target="../media/image68.png"  /><Relationship Id="rId5" Type="http://schemas.openxmlformats.org/officeDocument/2006/relationships/image" Target="../media/image40.png"  /><Relationship Id="rId6" Type="http://schemas.openxmlformats.org/officeDocument/2006/relationships/image" Target="../media/image41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9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41800" y="2413000"/>
            <a:ext cx="22860000" cy="22860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0" y="-5207000"/>
            <a:ext cx="8890000" cy="8890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25600" y="7200900"/>
            <a:ext cx="11658600" cy="1765300"/>
          </a:xfrm>
          <a:prstGeom prst="rect">
            <a:avLst/>
          </a:prstGeom>
        </p:spPr>
        <p:txBody>
          <a:bodyPr lIns="0" tIns="137579" rIns="0" bIns="137579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강의실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예약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시스템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5600" y="9334500"/>
            <a:ext cx="8483600" cy="1562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" sz="2933" b="1" i="0" u="none" strike="noStrike">
                <a:solidFill>
                  <a:srgbClr val="323232"/>
                </a:solidFill>
                <a:ea typeface="Baskervville Regular"/>
              </a:rPr>
              <a:t>컴퓨터소프트웨어공학과</a:t>
            </a:r>
          </a:p>
          <a:p>
            <a:pPr lvl="0" algn="l">
              <a:lnSpc>
                <a:spcPct val="116199"/>
              </a:lnSpc>
            </a:pPr>
            <a:r>
              <a:rPr lang="en" sz="2933" b="1" i="0" u="none" strike="noStrike">
                <a:solidFill>
                  <a:srgbClr val="323232"/>
                </a:solidFill>
                <a:ea typeface="Baskervville Regular"/>
              </a:rPr>
              <a:t>객체지향모델링</a:t>
            </a:r>
          </a:p>
          <a:p>
            <a:pPr lvl="0" algn="l">
              <a:lnSpc>
                <a:spcPct val="116199"/>
              </a:lnSpc>
            </a:pPr>
            <a:r>
              <a:rPr lang="ko-KR" sz="2933" b="1" i="0" u="none" strike="noStrike">
                <a:solidFill>
                  <a:srgbClr val="323232"/>
                </a:solidFill>
                <a:ea typeface="Baskervville Regular"/>
              </a:rPr>
              <a:t>담당교수</a:t>
            </a:r>
            <a:r>
              <a:rPr lang="en-US" sz="2933" b="1" i="0" u="none" strike="noStrike">
                <a:solidFill>
                  <a:srgbClr val="323232"/>
                </a:solidFill>
                <a:latin typeface="Baskervville Regular"/>
              </a:rPr>
              <a:t> : </a:t>
            </a:r>
            <a:r>
              <a:rPr lang="ko-KR" sz="2933" b="1" i="0" u="none" strike="noStrike">
                <a:solidFill>
                  <a:srgbClr val="323232"/>
                </a:solidFill>
                <a:ea typeface="Baskervville Regular"/>
              </a:rPr>
              <a:t>이종민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5600" y="1003300"/>
            <a:ext cx="6718300" cy="546100"/>
          </a:xfrm>
          <a:prstGeom prst="rect">
            <a:avLst/>
          </a:prstGeom>
        </p:spPr>
        <p:txBody>
          <a:bodyPr lIns="0" tIns="42332" rIns="0" bIns="42332" rtlCol="0" anchor="ctr"/>
          <a:lstStyle/>
          <a:p>
            <a:pPr lvl="0" algn="l">
              <a:lnSpc>
                <a:spcPct val="95449"/>
              </a:lnSpc>
            </a:pPr>
            <a:r>
              <a:rPr lang="ko-KR" sz="2666" b="0" i="0" u="none" strike="noStrike" spc="53">
                <a:solidFill>
                  <a:srgbClr val="323232"/>
                </a:solidFill>
                <a:ea typeface="Pretendard Medium"/>
              </a:rPr>
              <a:t>객체지향모델링</a:t>
            </a:r>
            <a:r>
              <a:rPr lang="en-US" sz="2666" b="0" i="0" u="none" strike="noStrike" spc="53">
                <a:solidFill>
                  <a:srgbClr val="323232"/>
                </a:solidFill>
                <a:latin typeface="Pretendard Medium"/>
              </a:rPr>
              <a:t> 2</a:t>
            </a:r>
            <a:r>
              <a:rPr lang="ko-KR" sz="2666" b="0" i="0" u="none" strike="noStrike" spc="53">
                <a:solidFill>
                  <a:srgbClr val="323232"/>
                </a:solidFill>
                <a:ea typeface="Pretendard Medium"/>
              </a:rPr>
              <a:t>분</a:t>
            </a:r>
            <a:r>
              <a:rPr lang="en-US" sz="2666" b="0" i="0" u="none" strike="noStrike" spc="53">
                <a:solidFill>
                  <a:srgbClr val="323232"/>
                </a:solidFill>
                <a:latin typeface="Pretendard Medium"/>
              </a:rPr>
              <a:t> 3</a:t>
            </a:r>
            <a:r>
              <a:rPr lang="ko-KR" sz="2666" b="0" i="0" u="none" strike="noStrike" spc="53">
                <a:solidFill>
                  <a:srgbClr val="323232"/>
                </a:solidFill>
                <a:ea typeface="Pretendard Medium"/>
              </a:rPr>
              <a:t>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31000" y="10248900"/>
            <a:ext cx="4127500" cy="2755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24499"/>
              </a:lnSpc>
            </a:pP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2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분반</a:t>
            </a: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 3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조</a:t>
            </a:r>
          </a:p>
          <a:p>
            <a:pPr lvl="0" algn="l">
              <a:lnSpc>
                <a:spcPct val="124499"/>
              </a:lnSpc>
            </a:pP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팀장</a:t>
            </a: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: 20213034 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임민욱</a:t>
            </a:r>
          </a:p>
          <a:p>
            <a:pPr lvl="0" algn="l">
              <a:lnSpc>
                <a:spcPct val="124499"/>
              </a:lnSpc>
            </a:pP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팀원</a:t>
            </a: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: 20212991 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심동진</a:t>
            </a:r>
          </a:p>
          <a:p>
            <a:pPr lvl="0" algn="l">
              <a:lnSpc>
                <a:spcPct val="124499"/>
              </a:lnSpc>
            </a:pP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팀원</a:t>
            </a: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: 20212998 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강준화</a:t>
            </a:r>
          </a:p>
          <a:p>
            <a:pPr lvl="0" algn="l">
              <a:lnSpc>
                <a:spcPct val="124499"/>
              </a:lnSpc>
            </a:pP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팀원</a:t>
            </a:r>
            <a:r>
              <a:rPr lang="en-US" sz="2933" b="0" i="0" u="none" strike="noStrike">
                <a:solidFill>
                  <a:srgbClr val="323232"/>
                </a:solidFill>
                <a:latin typeface="Pretendard SemiBold"/>
              </a:rPr>
              <a:t>: 20023125 </a:t>
            </a:r>
            <a:r>
              <a:rPr lang="ko-KR" sz="2933" b="0" i="0" u="none" strike="noStrike">
                <a:solidFill>
                  <a:srgbClr val="323232"/>
                </a:solidFill>
                <a:ea typeface="Pretendard SemiBold"/>
              </a:rPr>
              <a:t>이나겸</a:t>
            </a: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0700" y="3670300"/>
            <a:ext cx="2578100" cy="1536700"/>
          </a:xfrm>
          <a:prstGeom prst="rect">
            <a:avLst/>
          </a:prstGeom>
        </p:spPr>
        <p:txBody>
          <a:bodyPr lIns="0" tIns="137579" rIns="0" bIns="137579" anchor="ctr"/>
          <a:lstStyle/>
          <a:p>
            <a:pPr lvl="0" algn="l">
              <a:lnSpc>
                <a:spcPct val="95449"/>
              </a:lnSpc>
              <a:defRPr/>
            </a:pPr>
            <a:r>
              <a:rPr lang="en" sz="8666" b="0" i="0" u="none" strike="noStrike">
                <a:solidFill>
                  <a:srgbClr val="323232"/>
                </a:solidFill>
                <a:ea typeface="Pretendard SemiBold"/>
              </a:rPr>
              <a:t>목차</a:t>
            </a:r>
            <a:endParaRPr lang="en" sz="8666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114000" y="508000"/>
            <a:ext cx="762000" cy="3810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r">
              <a:lnSpc>
                <a:spcPct val="95449"/>
              </a:lnSpc>
              <a:defRPr/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1</a:t>
            </a:r>
            <a:endParaRPr lang="en" sz="2133" b="0" i="0" u="none" strike="noStrike" spc="43">
              <a:solidFill>
                <a:srgbClr val="787878"/>
              </a:solidFill>
              <a:latin typeface="Pretendard Medium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rot="5400000">
            <a:off x="1054100" y="8826500"/>
            <a:ext cx="14859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549400" y="8026400"/>
            <a:ext cx="508000" cy="508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12900" y="8039100"/>
            <a:ext cx="381000" cy="4699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1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387600" y="78740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프로젝트</a:t>
            </a:r>
            <a:r>
              <a:rPr lang="en-US" sz="4266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목표</a:t>
            </a:r>
            <a:endParaRPr lang="ko-KR" sz="4266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054100" y="11137900"/>
            <a:ext cx="1485900" cy="50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549400" y="10337800"/>
            <a:ext cx="508000" cy="5080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612900" y="10312400"/>
            <a:ext cx="381000" cy="5461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4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87600" y="101854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시스템</a:t>
            </a:r>
            <a:r>
              <a:rPr lang="en-US" sz="4266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설계</a:t>
            </a:r>
            <a:endParaRPr lang="ko-KR" sz="4266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87600" y="11315700"/>
            <a:ext cx="6667500" cy="4953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문제점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보완에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대한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패턴에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대해서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설명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8394700" y="8826500"/>
            <a:ext cx="1485900" cy="50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890000" y="8026400"/>
            <a:ext cx="508000" cy="508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8953500" y="8001000"/>
            <a:ext cx="381000" cy="5461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2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28200" y="78740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en" sz="4266" b="0" i="0" u="none" strike="noStrike">
                <a:solidFill>
                  <a:srgbClr val="323232"/>
                </a:solidFill>
                <a:ea typeface="Pretendard Medium"/>
              </a:rPr>
              <a:t>문제점</a:t>
            </a:r>
            <a:endParaRPr lang="en" sz="4266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728200" y="8839200"/>
            <a:ext cx="6667500" cy="8382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이전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강의실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시스템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문제점에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대해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설명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8394700" y="11137900"/>
            <a:ext cx="14859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890000" y="10337800"/>
            <a:ext cx="508000" cy="508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8953500" y="10312400"/>
            <a:ext cx="381000" cy="5461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5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28200" y="101854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프로젝트</a:t>
            </a:r>
            <a:r>
              <a:rPr lang="en-US" sz="4266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평가</a:t>
            </a:r>
            <a:endParaRPr lang="ko-KR" sz="4266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28200" y="11315700"/>
            <a:ext cx="6667500" cy="4953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프로젝트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달성도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5400000">
            <a:off x="15735300" y="8826500"/>
            <a:ext cx="1485900" cy="50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6230600" y="8026400"/>
            <a:ext cx="508000" cy="508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6294100" y="8001000"/>
            <a:ext cx="381000" cy="5461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3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068800" y="78740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기능</a:t>
            </a:r>
            <a:r>
              <a:rPr lang="en-US" sz="4266" b="0" i="0" u="none" strike="noStrike">
                <a:solidFill>
                  <a:srgbClr val="323232"/>
                </a:solidFill>
                <a:latin typeface="Pretendard Medium"/>
              </a:rPr>
              <a:t> </a:t>
            </a:r>
            <a:r>
              <a:rPr lang="ko-KR" sz="4266" b="0" i="0" u="none" strike="noStrike">
                <a:solidFill>
                  <a:srgbClr val="323232"/>
                </a:solidFill>
                <a:ea typeface="Pretendard Medium"/>
              </a:rPr>
              <a:t>요구사항</a:t>
            </a:r>
            <a:endParaRPr lang="ko-KR" sz="4266" b="0" i="0" u="none" strike="noStrike">
              <a:solidFill>
                <a:srgbClr val="323232"/>
              </a:solidFill>
              <a:ea typeface="Pretendard Mediu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7068800" y="9004300"/>
            <a:ext cx="6667500" cy="4953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강의실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시스템에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적용되는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기능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요구사항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 rot="5400000">
            <a:off x="15735300" y="11137900"/>
            <a:ext cx="1485900" cy="508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6230600" y="10337800"/>
            <a:ext cx="508000" cy="508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6294100" y="10350500"/>
            <a:ext cx="381000" cy="469900"/>
          </a:xfrm>
          <a:prstGeom prst="rect">
            <a:avLst/>
          </a:prstGeom>
        </p:spPr>
        <p:txBody>
          <a:bodyPr lIns="0" tIns="42332" rIns="0" bIns="42332" anchor="ctr"/>
          <a:lstStyle/>
          <a:p>
            <a:pPr lvl="0" algn="ctr">
              <a:lnSpc>
                <a:spcPct val="95449"/>
              </a:lnSpc>
              <a:defRPr/>
            </a:pPr>
            <a:r>
              <a:rPr lang="en" sz="2666" b="0" i="0" u="none" strike="noStrike">
                <a:solidFill>
                  <a:srgbClr val="fafafa"/>
                </a:solidFill>
                <a:latin typeface="Pretendard Bold"/>
              </a:rPr>
              <a:t>6</a:t>
            </a:r>
            <a:endParaRPr lang="en" sz="2666" b="0" i="0" u="none" strike="noStrike">
              <a:solidFill>
                <a:srgbClr val="fafafa"/>
              </a:solidFill>
              <a:latin typeface="Pretendard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7068800" y="10185400"/>
            <a:ext cx="6743700" cy="876300"/>
          </a:xfrm>
          <a:prstGeom prst="rect">
            <a:avLst/>
          </a:prstGeom>
        </p:spPr>
        <p:txBody>
          <a:bodyPr lIns="0" tIns="67732" rIns="0" bIns="67732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altLang="en-US" sz="4266" b="0" i="0" u="none" strike="noStrike">
                <a:solidFill>
                  <a:srgbClr val="323232"/>
                </a:solidFill>
                <a:latin typeface="Pretendard Medium"/>
              </a:rPr>
              <a:t>마무리</a:t>
            </a:r>
            <a:endParaRPr lang="ko-KR" altLang="en-US" sz="4266" b="0" i="0" u="none" strike="noStrike">
              <a:solidFill>
                <a:srgbClr val="323232"/>
              </a:solidFill>
              <a:latin typeface="Pretendard Mediu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  <a:endParaRPr lang="ko-KR" sz="3857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90700" y="1676400"/>
            <a:ext cx="7785100" cy="1765300"/>
          </a:xfrm>
          <a:prstGeom prst="rect">
            <a:avLst/>
          </a:prstGeom>
        </p:spPr>
        <p:txBody>
          <a:bodyPr lIns="0" tIns="137581" rIns="0" bIns="137581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프로젝트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목표</a:t>
            </a:r>
            <a:endParaRPr lang="ko-KR" sz="8666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r">
              <a:lnSpc>
                <a:spcPct val="95449"/>
              </a:lnSpc>
              <a:defRPr/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1</a:t>
            </a:r>
            <a:endParaRPr lang="en" sz="2133" b="0" i="0" u="none" strike="noStrike" spc="43">
              <a:solidFill>
                <a:srgbClr val="787878"/>
              </a:solidFill>
              <a:latin typeface="Pretendard Medium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78000" y="5207000"/>
            <a:ext cx="10414000" cy="5905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093700" y="4495800"/>
            <a:ext cx="1079500" cy="1066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4554200" y="4419600"/>
            <a:ext cx="1104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027400" y="4445000"/>
            <a:ext cx="901700" cy="1104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081000" y="6045200"/>
            <a:ext cx="10617200" cy="14224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디자인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패턴을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이용한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유지보수성과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확장성을</a:t>
            </a:r>
            <a:endParaRPr lang="ko-KR" sz="3999" b="1" i="0" u="none" strike="noStrike">
              <a:solidFill>
                <a:srgbClr val="323232"/>
              </a:solidFill>
              <a:ea typeface="Pretendard SemiBold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잡은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강의실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예약</a:t>
            </a:r>
            <a:r>
              <a:rPr lang="en-US" sz="3999" b="1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3999" b="1" i="0" u="none" strike="noStrike">
                <a:solidFill>
                  <a:srgbClr val="323232"/>
                </a:solidFill>
                <a:ea typeface="Pretendard SemiBold"/>
              </a:rPr>
              <a:t>시스템</a:t>
            </a:r>
            <a:endParaRPr lang="ko-KR" sz="3999" b="1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627100" y="8572500"/>
            <a:ext cx="9588500" cy="39878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강의실</a:t>
            </a:r>
            <a:r>
              <a:rPr lang="en-US" sz="2799" b="1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799" b="1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시스템</a:t>
            </a:r>
            <a:b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</a:b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동의대학교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컴퓨터소프트웨어공학과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강의실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자원을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체계적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효율적으로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활용하기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위해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구축된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시스템으로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학생들이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정규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수업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외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빈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시간대를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확인하고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즉시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예약할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수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있도록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지원합니다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799" b="0" i="0" u="none" strike="noStrike">
              <a:solidFill>
                <a:srgbClr val="323232"/>
              </a:solidFill>
              <a:latin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설계</a:t>
            </a:r>
            <a:r>
              <a:rPr lang="en-US" sz="2799" b="1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및</a:t>
            </a:r>
            <a:r>
              <a:rPr lang="en-US" sz="2799" b="1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구현</a:t>
            </a:r>
            <a:r>
              <a:rPr lang="en-US" sz="2799" b="1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  <a:t>특징</a:t>
            </a:r>
            <a:br>
              <a:rPr lang="ko-KR" sz="2799" b="1" i="0" u="none" strike="noStrike">
                <a:solidFill>
                  <a:srgbClr val="323232"/>
                </a:solidFill>
                <a:ea typeface="Pretendard Regular"/>
              </a:rPr>
            </a:b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디자인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패턴을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적용해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유지보수성과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확장성을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강화하였으며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학과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공간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자원의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공정한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분배와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활용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극대화를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통해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학생들에게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안정적이고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능동적인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학습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환경을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799" b="0" i="0" u="none" strike="noStrike">
                <a:solidFill>
                  <a:srgbClr val="323232"/>
                </a:solidFill>
                <a:ea typeface="Pretendard Regular"/>
              </a:rPr>
              <a:t>제공합니다</a:t>
            </a:r>
            <a:r>
              <a:rPr lang="en-US" sz="2799" b="0" i="0" u="none" strike="noStrike">
                <a:solidFill>
                  <a:srgbClr val="323232"/>
                </a:solidFill>
                <a:latin typeface="Pretendard Regular"/>
              </a:rPr>
              <a:t>. </a:t>
            </a:r>
            <a:endParaRPr lang="en-US" sz="27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1849100" y="10566400"/>
            <a:ext cx="2806700" cy="50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93700" y="9144000"/>
            <a:ext cx="317500" cy="317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  <a:endParaRPr lang="ko-KR" sz="3857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28800" y="6413500"/>
            <a:ext cx="508000" cy="50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00000">
            <a:off x="-114300" y="8851900"/>
            <a:ext cx="43815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930400" y="8280400"/>
            <a:ext cx="317500" cy="317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930400" y="9575800"/>
            <a:ext cx="3175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930400" y="10896600"/>
            <a:ext cx="317500" cy="317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790700" y="1676400"/>
            <a:ext cx="6057900" cy="1765300"/>
          </a:xfrm>
          <a:prstGeom prst="rect">
            <a:avLst/>
          </a:prstGeom>
        </p:spPr>
        <p:txBody>
          <a:bodyPr lIns="0" tIns="137579" rIns="0" bIns="137579" anchor="ctr"/>
          <a:lstStyle/>
          <a:p>
            <a:pPr lvl="0" algn="l">
              <a:lnSpc>
                <a:spcPct val="95449"/>
              </a:lnSpc>
              <a:defRPr/>
            </a:pPr>
            <a:r>
              <a:rPr lang="en" sz="8666" b="0" i="0" u="none" strike="noStrike">
                <a:solidFill>
                  <a:srgbClr val="323232"/>
                </a:solidFill>
                <a:ea typeface="Pretendard SemiBold"/>
              </a:rPr>
              <a:t>문제점</a:t>
            </a:r>
            <a:endParaRPr lang="en" sz="8666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67000" y="6134100"/>
            <a:ext cx="10718800" cy="1092200"/>
          </a:xfrm>
          <a:prstGeom prst="rect">
            <a:avLst/>
          </a:prstGeom>
        </p:spPr>
        <p:txBody>
          <a:bodyPr lIns="0" tIns="84665" rIns="0" bIns="84665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5333" b="0" i="0" u="none" strike="noStrike">
                <a:solidFill>
                  <a:srgbClr val="323232"/>
                </a:solidFill>
                <a:ea typeface="Pretendard SemiBold"/>
              </a:rPr>
              <a:t>강의실</a:t>
            </a:r>
            <a:r>
              <a:rPr lang="en-US" sz="5333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5333" b="0" i="0" u="none" strike="noStrike">
                <a:solidFill>
                  <a:srgbClr val="323232"/>
                </a:solidFill>
                <a:ea typeface="Pretendard SemiBold"/>
              </a:rPr>
              <a:t>예약</a:t>
            </a:r>
            <a:r>
              <a:rPr lang="en-US" sz="5333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5333" b="0" i="0" u="none" strike="noStrike">
                <a:solidFill>
                  <a:srgbClr val="323232"/>
                </a:solidFill>
                <a:ea typeface="Pretendard SemiBold"/>
              </a:rPr>
              <a:t>시스템의</a:t>
            </a:r>
            <a:r>
              <a:rPr lang="en-US" sz="5333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5333" b="0" i="0" u="none" strike="noStrike">
                <a:solidFill>
                  <a:srgbClr val="323232"/>
                </a:solidFill>
                <a:ea typeface="Pretendard SemiBold"/>
              </a:rPr>
              <a:t>문제점</a:t>
            </a:r>
            <a:endParaRPr lang="ko-KR" sz="5333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667000" y="8204200"/>
            <a:ext cx="10591800" cy="8382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학생들이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강의실의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빈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시간대를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쉽게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확인할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있는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체계적인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시스템이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부재하며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사용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가능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여부를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파악하기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어렵다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667000" y="9525000"/>
            <a:ext cx="11049000" cy="8382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현황이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명확하게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관리되지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않아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사용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겹침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등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운영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혼성이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빈번하게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발생하고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강의실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관리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효율성이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저하됩니다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667000" y="10845800"/>
            <a:ext cx="11277600" cy="838200"/>
          </a:xfrm>
          <a:prstGeom prst="rect">
            <a:avLst/>
          </a:prstGeom>
        </p:spPr>
        <p:txBody>
          <a:bodyPr lIns="0" tIns="38098" rIns="0" bIns="38098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강의실이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실제로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비어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있어도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활용되지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못하는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경우가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많고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반대로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공간이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필요한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9544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학생들은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적절한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장소를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확보하기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어려워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학습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및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프로젝트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활동에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불편을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겪습니다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r">
              <a:lnSpc>
                <a:spcPct val="95449"/>
              </a:lnSpc>
              <a:defRPr/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2</a:t>
            </a:r>
            <a:endParaRPr lang="en" sz="2133" b="0" i="0" u="none" strike="noStrike" spc="43">
              <a:solidFill>
                <a:srgbClr val="787878"/>
              </a:solidFill>
              <a:latin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  <a:endParaRPr lang="ko-KR" sz="3857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2800" y="-2057400"/>
            <a:ext cx="17830800" cy="17830800"/>
          </a:xfrm>
          <a:prstGeom prst="rect">
            <a:avLst/>
          </a:prstGeom>
        </p:spPr>
      </p:pic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905000" y="4660900"/>
          <a:ext cx="20575276" cy="7632986"/>
        </p:xfrm>
        <a:graphic>
          <a:graphicData uri="http://schemas.openxmlformats.org/drawingml/2006/table">
            <a:tbl>
              <a:tblPr/>
              <a:tblGrid>
                <a:gridCol w="4204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8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17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417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기능</a:t>
                      </a:r>
                      <a:r>
                        <a:rPr lang="en-US" sz="2666" b="0" i="0" u="none" strike="noStrike">
                          <a:solidFill>
                            <a:srgbClr val="323232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요구사항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417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학생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교수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학생과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교수는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강의실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생성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변경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취소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가능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시간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확인이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가능해야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하며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중복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방지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이용시간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제한인원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기준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확인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등의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검증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로직이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적용되어야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한다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Strategy Pattern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Template Pattern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317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관리자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관리자는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모든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정보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조회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수정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삭제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및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승인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거절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기능을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수행할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수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있어야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하며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다양한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관리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명령을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일관된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절차로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처리할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수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있어야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한다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Command Pattern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2317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서버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-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클라이언트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서버는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처리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유효성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검증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파일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저장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등을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단일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인터페이스로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관리하고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클라이언트와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명확히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분리된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구조로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동작해야하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하며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</a:t>
                      </a:r>
                    </a:p>
                    <a:p>
                      <a:pPr lvl="0" algn="ctr">
                        <a:lnSpc>
                          <a:spcPct val="107899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변경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사항은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전체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시스템에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실시간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반영되어야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한다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Facade Pattern</a:t>
                      </a:r>
                      <a:endParaRPr lang="en-US" sz="1100"/>
                    </a:p>
                    <a:p>
                      <a:pPr lvl="0" algn="ctr">
                        <a:lnSpc>
                          <a:spcPct val="83000"/>
                        </a:lnSpc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Singleton Pattern</a:t>
                      </a:r>
                    </a:p>
                    <a:p>
                      <a:pPr lvl="0" algn="ctr">
                        <a:lnSpc>
                          <a:spcPct val="83000"/>
                        </a:lnSpc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Observer Pattern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790700" y="1676400"/>
            <a:ext cx="8826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기능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요구사항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1087100" y="-2057400"/>
            <a:ext cx="17830800" cy="17830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90700" y="1676400"/>
            <a:ext cx="6057900" cy="1765300"/>
          </a:xfrm>
          <a:prstGeom prst="rect">
            <a:avLst/>
          </a:prstGeom>
        </p:spPr>
        <p:txBody>
          <a:bodyPr lIns="0" tIns="137581" rIns="0" bIns="137581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퍼사드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  <a:endParaRPr lang="ko-KR" sz="8666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90700" y="3314700"/>
            <a:ext cx="8483600" cy="647700"/>
          </a:xfrm>
          <a:prstGeom prst="rect">
            <a:avLst/>
          </a:prstGeom>
        </p:spPr>
        <p:txBody>
          <a:bodyPr lIns="0" tIns="50798" rIns="0" bIns="50798" anchor="ctr"/>
          <a:lstStyle/>
          <a:p>
            <a:pPr lvl="0" algn="l">
              <a:lnSpc>
                <a:spcPct val="95449"/>
              </a:lnSpc>
              <a:defRPr/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Facade Pattern</a:t>
            </a:r>
            <a:endParaRPr lang="en" sz="3199" b="0" i="1" u="none" strike="noStrike">
              <a:solidFill>
                <a:srgbClr val="323232"/>
              </a:solidFill>
              <a:latin typeface="Baskervville Regular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r">
              <a:lnSpc>
                <a:spcPct val="95449"/>
              </a:lnSpc>
              <a:defRPr/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  <a:endParaRPr lang="en" sz="2133" b="0" i="0" u="none" strike="noStrike" spc="43">
              <a:solidFill>
                <a:srgbClr val="787878"/>
              </a:solidFill>
              <a:latin typeface="Pretendard Medium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50800" y="3733800"/>
            <a:ext cx="10160000" cy="254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2750800" y="3733800"/>
            <a:ext cx="127000" cy="25400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3233400" y="5016500"/>
            <a:ext cx="9283700" cy="8509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클라이언트가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여러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서브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시스템과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직접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상호작용해야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해서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복잡도가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높아지고</a:t>
            </a:r>
            <a:r>
              <a:rPr lang="ko-KR" altLang="en-US" sz="2399" b="0" i="0" u="none" strike="noStrike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결합도가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증가하여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시스템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구조가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클라이언트에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노출되어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변경에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취약하다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233400" y="40640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2933" b="0" i="0" u="none" strike="noStrike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33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  <a:endParaRPr lang="ko-KR" sz="2933" b="0" i="0" u="none" strike="noStrike">
              <a:solidFill>
                <a:srgbClr val="323232"/>
              </a:solidFill>
              <a:ea typeface="Pretendard 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750800" y="6858000"/>
            <a:ext cx="10160000" cy="2540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750800" y="6858000"/>
            <a:ext cx="127000" cy="2540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233400" y="8140700"/>
            <a:ext cx="9283700" cy="8509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여러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서브시스템을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단일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인터페이스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아래로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통합하여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클라이언트가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구조를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필요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없이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요청을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수행할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있게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퍼사드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역할을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제공한다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233400" y="71882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2933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33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  <a:endParaRPr lang="ko-KR" sz="2933" b="0" i="0" u="none" strike="noStrike">
              <a:solidFill>
                <a:srgbClr val="323232"/>
              </a:solidFill>
              <a:ea typeface="Pretendard Bold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2750800" y="9994900"/>
            <a:ext cx="10160000" cy="254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750800" y="9994900"/>
            <a:ext cx="127000" cy="254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3233400" y="11264900"/>
            <a:ext cx="9550400" cy="8509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여러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서브시스템을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단일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인터페이스로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묶어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클라이언트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복잡도를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낮춤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서브시스템은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비즈니스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로직을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수행하며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퍼사드를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통해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접근됨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233400" y="103251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2933" b="0" i="0" u="none" strike="noStrike">
                <a:solidFill>
                  <a:srgbClr val="323232"/>
                </a:solidFill>
                <a:latin typeface="Pretendard Bold"/>
              </a:rPr>
              <a:t>3. </a:t>
            </a:r>
            <a:r>
              <a:rPr lang="ko-KR" sz="2933" b="0" i="0" u="none" strike="noStrike">
                <a:solidFill>
                  <a:srgbClr val="323232"/>
                </a:solidFill>
                <a:ea typeface="Pretendard Bold"/>
              </a:rPr>
              <a:t>퍼사드</a:t>
            </a:r>
            <a:r>
              <a:rPr lang="en-US" sz="2933" b="0" i="0" u="none" strike="noStrike">
                <a:solidFill>
                  <a:srgbClr val="323232"/>
                </a:solidFill>
                <a:latin typeface="Pretendard Bold"/>
              </a:rPr>
              <a:t> </a:t>
            </a:r>
            <a:r>
              <a:rPr lang="ko-KR" sz="2933" b="0" i="0" u="none" strike="noStrike">
                <a:solidFill>
                  <a:srgbClr val="323232"/>
                </a:solidFill>
                <a:ea typeface="Pretendard Bold"/>
              </a:rPr>
              <a:t>패턴</a:t>
            </a:r>
            <a:r>
              <a:rPr lang="en-US" sz="2933" b="0" i="0" u="none" strike="noStrike">
                <a:solidFill>
                  <a:srgbClr val="323232"/>
                </a:solidFill>
                <a:latin typeface="Pretendard Bold"/>
              </a:rPr>
              <a:t> </a:t>
            </a:r>
            <a:r>
              <a:rPr lang="ko-KR" sz="2933" b="0" i="0" u="none" strike="noStrike">
                <a:solidFill>
                  <a:srgbClr val="323232"/>
                </a:solidFill>
                <a:ea typeface="Pretendard Bold"/>
              </a:rPr>
              <a:t>적용</a:t>
            </a:r>
            <a:endParaRPr lang="ko-KR" sz="2933" b="0" i="0" u="none" strike="noStrike">
              <a:solidFill>
                <a:srgbClr val="323232"/>
              </a:solidFill>
              <a:ea typeface="Pretendard Bold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57200" y="5003800"/>
            <a:ext cx="12039600" cy="65786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  <a:endParaRPr lang="ko-KR" sz="3857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419600"/>
            <a:ext cx="9652000" cy="30099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8166100"/>
            <a:ext cx="10718800" cy="4737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1100" y="3962400"/>
            <a:ext cx="7734300" cy="28956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1087100" y="-2057400"/>
            <a:ext cx="17830800" cy="17830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790700" y="1676400"/>
            <a:ext cx="6057900" cy="1765300"/>
          </a:xfrm>
          <a:prstGeom prst="rect">
            <a:avLst/>
          </a:prstGeom>
        </p:spPr>
        <p:txBody>
          <a:bodyPr lIns="0" tIns="137581" rIns="0" bIns="137581" anchor="ctr"/>
          <a:lstStyle/>
          <a:p>
            <a:pPr lvl="0" algn="l">
              <a:lnSpc>
                <a:spcPct val="95449"/>
              </a:lnSpc>
              <a:defRPr/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커맨드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  <a:endParaRPr lang="ko-KR" sz="8666" b="0" i="0" u="none" strike="noStrike">
              <a:solidFill>
                <a:srgbClr val="323232"/>
              </a:solidFill>
              <a:ea typeface="Pretendard Semi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790700" y="3314700"/>
            <a:ext cx="8483600" cy="647700"/>
          </a:xfrm>
          <a:prstGeom prst="rect">
            <a:avLst/>
          </a:prstGeom>
        </p:spPr>
        <p:txBody>
          <a:bodyPr lIns="0" tIns="50798" rIns="0" bIns="50798" anchor="ctr"/>
          <a:lstStyle/>
          <a:p>
            <a:pPr lvl="0" algn="l">
              <a:lnSpc>
                <a:spcPct val="95449"/>
              </a:lnSpc>
              <a:defRPr/>
            </a:pP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Command Pattern -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사용자</a:t>
            </a: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관리자</a:t>
            </a:r>
            <a:endParaRPr lang="ko-KR" sz="3199" b="0" i="1" u="none" strike="noStrike">
              <a:solidFill>
                <a:srgbClr val="323232"/>
              </a:solidFill>
              <a:ea typeface="Baskervville Regular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716000" y="2311400"/>
            <a:ext cx="10134600" cy="3746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716000" y="2311400"/>
            <a:ext cx="127000" cy="37465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198600" y="4953000"/>
            <a:ext cx="9258300" cy="8509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Command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객체로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캡슐화하여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구조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분리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기능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추가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시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endParaRPr lang="ko-KR" sz="2393" b="0" i="0" u="none" strike="noStrike">
              <a:solidFill>
                <a:srgbClr val="323232"/>
              </a:solidFill>
              <a:ea typeface="Pretendard Regular"/>
            </a:endParaRPr>
          </a:p>
          <a:p>
            <a:pPr marL="0" lvl="1" indent="0" algn="l">
              <a:lnSpc>
                <a:spcPct val="116199"/>
              </a:lnSpc>
              <a:buClr>
                <a:srgbClr val="000000"/>
              </a:buClr>
              <a:buFont typeface="Arial"/>
              <a:buNone/>
              <a:defRPr/>
            </a:pPr>
            <a:r>
              <a:rPr lang="ko-KR" altLang="en-US" sz="2393" b="0" i="0" u="none" strike="noStrike">
                <a:solidFill>
                  <a:srgbClr val="323232"/>
                </a:solidFill>
                <a:ea typeface="Pretendard Regular"/>
              </a:rPr>
              <a:t>    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구현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커맨드만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추가</a:t>
            </a:r>
            <a:endParaRPr lang="ko-KR" sz="2393" b="0" i="0" u="none" strike="noStrike">
              <a:solidFill>
                <a:srgbClr val="323232"/>
              </a:solidFill>
              <a:ea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실행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흐름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명확해지고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유지보수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쉬워짐</a:t>
            </a:r>
            <a:endParaRPr lang="ko-KR" sz="2393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198600" y="4305300"/>
            <a:ext cx="5422900" cy="5207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2925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25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  <a:endParaRPr lang="ko-KR" sz="2925" b="0" i="0" u="none" strike="noStrike">
              <a:solidFill>
                <a:srgbClr val="323232"/>
              </a:solidFill>
              <a:ea typeface="Pretendard 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4648200"/>
            <a:ext cx="13385800" cy="6108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716000" y="6781800"/>
            <a:ext cx="10160000" cy="2540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716000" y="6781800"/>
            <a:ext cx="127000" cy="2540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198600" y="7569200"/>
            <a:ext cx="9283700" cy="4318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모든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명령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객체가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구현해야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인터페이스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제공</a:t>
            </a:r>
            <a:endParaRPr lang="ko-KR" sz="2399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198600" y="69977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Command </a:t>
            </a:r>
            <a:endParaRPr lang="en" sz="2933" b="0" i="0" u="none" strike="noStrike">
              <a:solidFill>
                <a:srgbClr val="323232"/>
              </a:solidFill>
              <a:latin typeface="Pretendard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98600" y="8572500"/>
            <a:ext cx="9283700" cy="4318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어떤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명령인지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필요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없고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실행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요청만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198600" y="80518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Invoker</a:t>
            </a:r>
            <a:endParaRPr lang="en" sz="2933" b="0" i="0" u="none" strike="noStrike">
              <a:solidFill>
                <a:srgbClr val="323232"/>
              </a:solidFill>
              <a:latin typeface="Pretendard Bold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716000" y="10058400"/>
            <a:ext cx="10160000" cy="276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3716000" y="10058400"/>
            <a:ext cx="127000" cy="276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4249400" y="10896600"/>
            <a:ext cx="9283700" cy="4318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payload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요청을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담고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Receiver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호출해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작업을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실행한다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4198600" y="102997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Concrete Command</a:t>
            </a:r>
            <a:endParaRPr lang="en" sz="2933" b="0" i="0" u="none" strike="noStrike">
              <a:solidFill>
                <a:srgbClr val="323232"/>
              </a:solidFill>
              <a:latin typeface="Pretendar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287500" y="12090400"/>
            <a:ext cx="9283700" cy="431800"/>
          </a:xfrm>
          <a:prstGeom prst="rect">
            <a:avLst/>
          </a:prstGeom>
        </p:spPr>
        <p:txBody>
          <a:bodyPr anchor="ctr"/>
          <a:lstStyle/>
          <a:p>
            <a:pPr lvl="0" algn="l">
              <a:lnSpc>
                <a:spcPct val="116199"/>
              </a:lnSpc>
              <a:defRPr/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명령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객체가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요청한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실질적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작업을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수행한다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  <a:endParaRPr lang="en-US" sz="2399" b="0" i="0" u="none" strike="noStrike">
              <a:solidFill>
                <a:srgbClr val="323232"/>
              </a:solidFill>
              <a:latin typeface="Pretendard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249400" y="11557000"/>
            <a:ext cx="5435600" cy="5207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Receiver</a:t>
            </a:r>
            <a:endParaRPr lang="en" sz="2933" b="0" i="0" u="none" strike="noStrike">
              <a:solidFill>
                <a:srgbClr val="323232"/>
              </a:solidFill>
              <a:latin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779500" y="2603500"/>
            <a:ext cx="4889500" cy="520700"/>
          </a:xfrm>
          <a:prstGeom prst="rect">
            <a:avLst/>
          </a:prstGeom>
        </p:spPr>
        <p:txBody>
          <a:bodyPr anchor="ctr"/>
          <a:lstStyle/>
          <a:p>
            <a:pPr lvl="1" algn="l">
              <a:lnSpc>
                <a:spcPct val="116199"/>
              </a:lnSpc>
              <a:defRPr/>
            </a:pPr>
            <a:r>
              <a:rPr lang="en-US" altLang="ko-KR" sz="2925" b="0" i="0" u="none" strike="noStrike">
                <a:solidFill>
                  <a:srgbClr val="323232"/>
                </a:solidFill>
                <a:ea typeface="Pretendard Bold"/>
              </a:rPr>
              <a:t>1.</a:t>
            </a:r>
            <a:r>
              <a:rPr lang="ko-KR" altLang="en-US" sz="2925" b="0" i="0" u="none" strike="noStrike">
                <a:solidFill>
                  <a:srgbClr val="323232"/>
                </a:solidFill>
                <a:ea typeface="Pretendard Bold"/>
              </a:rPr>
              <a:t> </a:t>
            </a:r>
            <a:r>
              <a:rPr lang="en" sz="2925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  <a:endParaRPr lang="en" sz="2925" b="0" i="0" u="none" strike="noStrike">
              <a:solidFill>
                <a:srgbClr val="323232"/>
              </a:solidFill>
              <a:ea typeface="Pretenda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211300" y="3289300"/>
            <a:ext cx="9258300" cy="850900"/>
          </a:xfrm>
          <a:prstGeom prst="rect">
            <a:avLst/>
          </a:prstGeom>
        </p:spPr>
        <p:txBody>
          <a:bodyPr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기능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증가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시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기존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코드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수정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필요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흐름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분산되어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명확하지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않음</a:t>
            </a:r>
            <a:endParaRPr lang="ko-KR" sz="2393" b="0" i="0" u="none" strike="noStrike">
              <a:solidFill>
                <a:srgbClr val="323232"/>
              </a:solidFill>
              <a:ea typeface="Pretendard Regular"/>
            </a:endParaRP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  <a:defRPr/>
            </a:pP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로직과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작업이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섞여있어서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유지보수</a:t>
            </a:r>
            <a:r>
              <a:rPr lang="en-US" sz="2393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3" b="0" i="0" u="none" strike="noStrike">
                <a:solidFill>
                  <a:srgbClr val="323232"/>
                </a:solidFill>
                <a:ea typeface="Pretendard Regular"/>
              </a:rPr>
              <a:t>어려움</a:t>
            </a:r>
            <a:endParaRPr lang="ko-KR" sz="2393" b="0" i="0" u="none" strike="noStrike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anchor="ctr"/>
          <a:lstStyle/>
          <a:p>
            <a:pPr lvl="0" algn="r">
              <a:lnSpc>
                <a:spcPct val="95449"/>
              </a:lnSpc>
              <a:defRPr/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  <a:endParaRPr lang="en" sz="2133" b="0" i="0" u="none" strike="noStrike" spc="43">
              <a:solidFill>
                <a:srgbClr val="787878"/>
              </a:solidFill>
              <a:latin typeface="Pretendard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546100"/>
            <a:ext cx="5816600" cy="685800"/>
          </a:xfrm>
          <a:prstGeom prst="rect">
            <a:avLst/>
          </a:prstGeom>
        </p:spPr>
        <p:txBody>
          <a:bodyPr anchor="t"/>
          <a:lstStyle/>
          <a:p>
            <a:pPr lvl="0" algn="ctr">
              <a:lnSpc>
                <a:spcPct val="116199"/>
              </a:lnSpc>
              <a:defRPr/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  <a:endParaRPr lang="ko-KR" sz="3857" b="0" i="0" u="none" strike="noStrike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406900"/>
            <a:ext cx="8128000" cy="387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8597900"/>
            <a:ext cx="7950200" cy="397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00" y="4406900"/>
            <a:ext cx="8318500" cy="3810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2200" y="8597900"/>
            <a:ext cx="8369300" cy="3975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2374900"/>
            <a:ext cx="7239000" cy="18796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95400" y="5080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20213034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임민욱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싱글턴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Singleton Pattern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7940" y="1714500"/>
            <a:ext cx="145060" cy="3162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1701800"/>
            <a:ext cx="10096500" cy="3162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4236700" y="2611718"/>
            <a:ext cx="9613900" cy="342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여러 </a:t>
            </a:r>
            <a:r>
              <a:rPr lang="en-US" altLang="ko-KR" sz="2384" b="0" i="0" u="none" strike="noStrike" dirty="0">
                <a:solidFill>
                  <a:srgbClr val="323232"/>
                </a:solidFill>
                <a:latin typeface="Pretendard Regular"/>
              </a:rPr>
              <a:t>Controller</a:t>
            </a: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와 </a:t>
            </a:r>
            <a:r>
              <a:rPr lang="en-US" altLang="ko-KR" sz="2384" b="0" i="0" u="none" strike="noStrike" dirty="0">
                <a:solidFill>
                  <a:srgbClr val="323232"/>
                </a:solidFill>
                <a:latin typeface="Pretendard Regular"/>
              </a:rPr>
              <a:t>Service</a:t>
            </a: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객체가 매번 새로 생성되어 상태관리 불안정</a:t>
            </a:r>
            <a:endParaRPr lang="en-US" altLang="ko-KR" sz="2384" b="0" i="0" u="none" strike="noStrike" dirty="0">
              <a:solidFill>
                <a:srgbClr val="323232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84" b="0" i="0" u="none" strike="noStrike" dirty="0">
                <a:solidFill>
                  <a:srgbClr val="323232"/>
                </a:solidFill>
                <a:ea typeface="Pretendard Regular"/>
              </a:rPr>
              <a:t>공유 데이터가 서로 다르고 중복 생성으로 로직 일관성 유지가 어려움</a:t>
            </a:r>
            <a:endParaRPr lang="ko-KR" sz="2384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218771" y="1869141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 dirty="0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14" b="0" i="0" u="none" strike="noStrike" dirty="0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09806" y="3928259"/>
            <a:ext cx="9220200" cy="419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어플 전역에서 동일한 인스턴스를 사용하여 생성지점을 통일하여 일관성 있는 상태로 관리하였고 중복 생성 제거</a:t>
            </a:r>
            <a:r>
              <a:rPr lang="en-US" altLang="ko-KR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공통 흐름 단일화로 유지보수성 향상됨</a:t>
            </a:r>
            <a:endParaRPr lang="ko-KR" sz="2384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36700" y="3236109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 dirty="0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14" b="0" i="0" u="none" strike="noStrike" dirty="0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9271000"/>
            <a:ext cx="10160000" cy="2540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9271000"/>
            <a:ext cx="127000" cy="2540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262100" y="105537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2399" b="0" i="0" u="none" strike="noStrike" dirty="0">
                <a:solidFill>
                  <a:srgbClr val="323232"/>
                </a:solidFill>
                <a:ea typeface="Pretendard Regular"/>
              </a:rPr>
              <a:t> - 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서비스 계층을 단일 인스턴스로 유지하여 핵심 데이터 흐름 일관성 유지</a:t>
            </a:r>
            <a:endParaRPr lang="en-US" altLang="ko-KR" sz="2399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- 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저장소 객체를 </a:t>
            </a:r>
            <a:r>
              <a:rPr lang="ko-KR" altLang="en-US" sz="2399" dirty="0" err="1">
                <a:solidFill>
                  <a:srgbClr val="323232"/>
                </a:solidFill>
                <a:ea typeface="Pretendard Regular"/>
              </a:rPr>
              <a:t>싱글턴으로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 관리하여 </a:t>
            </a:r>
            <a:r>
              <a:rPr lang="en-US" altLang="ko-KR" sz="2399" dirty="0" err="1">
                <a:solidFill>
                  <a:srgbClr val="323232"/>
                </a:solidFill>
                <a:ea typeface="Pretendard Regular"/>
              </a:rPr>
              <a:t>Yaml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파일 접근 시 중복 생성 방지</a:t>
            </a:r>
            <a:endParaRPr lang="en-US" altLang="ko-KR" sz="2399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    데이터 충돌 방지를 </a:t>
            </a:r>
            <a:r>
              <a:rPr lang="ko-KR" altLang="en-US" sz="2399" b="0" i="0" u="none" strike="noStrike" dirty="0" err="1">
                <a:solidFill>
                  <a:srgbClr val="323232"/>
                </a:solidFill>
                <a:ea typeface="Pretendard Regular"/>
              </a:rPr>
              <a:t>해줌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 </a:t>
            </a:r>
            <a:endParaRPr lang="ko-KR" sz="2399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62100" y="96012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UserService &amp; Repository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5803900"/>
            <a:ext cx="10160000" cy="254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5803900"/>
            <a:ext cx="127000" cy="254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262100" y="70739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2399" b="0" i="0" u="none" strike="noStrike" dirty="0">
                <a:solidFill>
                  <a:srgbClr val="323232"/>
                </a:solidFill>
                <a:ea typeface="Pretendard Regular"/>
              </a:rPr>
              <a:t>Controller 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계층의 각 주요 기능을 담당하는 객체를 단일 인스턴스로 유지</a:t>
            </a:r>
            <a:endParaRPr lang="en-US" altLang="ko-KR" sz="2399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사용자 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UI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흐름 제어 시 항상 동일 상태 유지</a:t>
            </a:r>
            <a:endParaRPr lang="ko-KR" sz="2399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262100" y="61341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Singleton </a:t>
            </a:r>
            <a:r>
              <a:rPr lang="en-US" sz="2933" dirty="0">
                <a:solidFill>
                  <a:srgbClr val="323232"/>
                </a:solidFill>
                <a:latin typeface="Pretendard Bold"/>
              </a:rPr>
              <a:t>Class</a:t>
            </a: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20223125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이나겸</a:t>
            </a:r>
          </a:p>
        </p:txBody>
      </p:sp>
      <p:pic>
        <p:nvPicPr>
          <p:cNvPr id="20" name="Picture 24">
            <a:extLst>
              <a:ext uri="{FF2B5EF4-FFF2-40B4-BE49-F238E27FC236}">
                <a16:creationId xmlns:a16="http://schemas.microsoft.com/office/drawing/2014/main" id="{A868F036-741F-6EF4-DCFC-4D8A0F8890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1" y="4342130"/>
            <a:ext cx="13502673" cy="231267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1" name="Picture 26">
            <a:extLst>
              <a:ext uri="{FF2B5EF4-FFF2-40B4-BE49-F238E27FC236}">
                <a16:creationId xmlns:a16="http://schemas.microsoft.com/office/drawing/2014/main" id="{B6EB5530-5179-5BBD-4292-A129CCE82A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934" y="6939803"/>
            <a:ext cx="11055025" cy="27635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2" name="Picture 28">
            <a:extLst>
              <a:ext uri="{FF2B5EF4-FFF2-40B4-BE49-F238E27FC236}">
                <a16:creationId xmlns:a16="http://schemas.microsoft.com/office/drawing/2014/main" id="{665D9253-3C40-B808-1E0C-587F0CF2A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500" y="9874997"/>
            <a:ext cx="10767187" cy="3337282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20223125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이나겸</a:t>
            </a:r>
          </a:p>
        </p:txBody>
      </p:sp>
      <p:pic>
        <p:nvPicPr>
          <p:cNvPr id="5" name="Picture 12">
            <a:extLst>
              <a:ext uri="{FF2B5EF4-FFF2-40B4-BE49-F238E27FC236}">
                <a16:creationId xmlns:a16="http://schemas.microsoft.com/office/drawing/2014/main" id="{28666BF3-0999-AEAF-69F8-738FA069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178448"/>
            <a:ext cx="7962901" cy="708957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14">
            <a:extLst>
              <a:ext uri="{FF2B5EF4-FFF2-40B4-BE49-F238E27FC236}">
                <a16:creationId xmlns:a16="http://schemas.microsoft.com/office/drawing/2014/main" id="{6EF97E2F-A688-4782-1926-7204757CD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826" y="4429552"/>
            <a:ext cx="8699500" cy="827208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2812284D-6DDE-814C-13E0-20B56D1D0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7350" y="2665365"/>
            <a:ext cx="7808136" cy="8385269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빌더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Builder Pattern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1648893"/>
            <a:ext cx="127000" cy="322790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1651000"/>
            <a:ext cx="10096500" cy="32131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4301694" y="2555875"/>
            <a:ext cx="9220200" cy="419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384" b="0" i="0" u="none" strike="noStrike" dirty="0">
                <a:solidFill>
                  <a:srgbClr val="323232"/>
                </a:solidFill>
                <a:latin typeface="Pretendard Regular"/>
              </a:rPr>
              <a:t>UI </a:t>
            </a: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패널 생성 시 동일한 설정 코드가 반복되어 유지보수 어려움</a:t>
            </a:r>
            <a:endParaRPr lang="en-US" altLang="ko-KR" sz="2384" b="0" i="0" u="none" strike="noStrike" dirty="0">
              <a:solidFill>
                <a:srgbClr val="323232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생성자 매개변수가 많아질수록 코드 가독성 저하 및 실수 가능성 증가</a:t>
            </a:r>
            <a:endParaRPr lang="ko-KR" sz="2384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274800" y="184785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 dirty="0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14" b="0" i="0" u="none" strike="noStrike" dirty="0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36700" y="3790389"/>
            <a:ext cx="9220200" cy="419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84" b="0" i="0" u="none" strike="noStrike" dirty="0" err="1">
                <a:solidFill>
                  <a:srgbClr val="323232"/>
                </a:solidFill>
                <a:latin typeface="Pretendard Regular"/>
              </a:rPr>
              <a:t>빌더</a:t>
            </a: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 패턴을 적용하여 </a:t>
            </a:r>
            <a:r>
              <a:rPr lang="en-US" altLang="ko-KR" sz="2384" b="0" i="0" u="none" strike="noStrike" dirty="0">
                <a:solidFill>
                  <a:srgbClr val="323232"/>
                </a:solidFill>
                <a:latin typeface="Pretendard Regular"/>
              </a:rPr>
              <a:t>UI </a:t>
            </a:r>
            <a:r>
              <a:rPr lang="ko-KR" altLang="en-US" sz="2384" b="0" i="0" u="none" strike="noStrike" dirty="0">
                <a:solidFill>
                  <a:srgbClr val="323232"/>
                </a:solidFill>
                <a:latin typeface="Pretendard Regular"/>
              </a:rPr>
              <a:t>생성 과정을 단계별로 분리</a:t>
            </a:r>
            <a:endParaRPr lang="en-US" altLang="ko-KR" sz="2384" b="0" i="0" u="none" strike="noStrike" dirty="0">
              <a:solidFill>
                <a:srgbClr val="323232"/>
              </a:solidFill>
              <a:latin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필수</a:t>
            </a:r>
            <a:r>
              <a:rPr lang="en-US" altLang="ko-KR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/</a:t>
            </a: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선택 필드를 명확히 하고</a:t>
            </a:r>
            <a:r>
              <a:rPr lang="en-US" altLang="ko-KR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, </a:t>
            </a: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메서드 </a:t>
            </a:r>
            <a:r>
              <a:rPr lang="ko-KR" altLang="en-US" sz="2384" dirty="0" err="1">
                <a:solidFill>
                  <a:srgbClr val="323232"/>
                </a:solidFill>
                <a:latin typeface="Pretendard Regular"/>
                <a:ea typeface="Pretendard Regular"/>
              </a:rPr>
              <a:t>체이닝으로</a:t>
            </a: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 가독성 높은 </a:t>
            </a:r>
            <a:r>
              <a:rPr lang="en-US" altLang="ko-KR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UI</a:t>
            </a:r>
            <a:r>
              <a:rPr lang="ko-KR" altLang="en-US" sz="2384" dirty="0">
                <a:solidFill>
                  <a:srgbClr val="323232"/>
                </a:solidFill>
                <a:latin typeface="Pretendard Regular"/>
                <a:ea typeface="Pretendard Regular"/>
              </a:rPr>
              <a:t>구조 구현</a:t>
            </a:r>
            <a:endParaRPr lang="ko-KR" sz="2384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36700" y="3122332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 dirty="0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14" b="0" i="0" u="none" strike="noStrike" dirty="0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61571" y="8790268"/>
            <a:ext cx="10160000" cy="360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61571" y="8790268"/>
            <a:ext cx="127000" cy="36068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301694" y="9683003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UI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 생성에 필요한 속성 정의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ko-KR" altLang="en-US" sz="2399" dirty="0" err="1">
                <a:solidFill>
                  <a:srgbClr val="323232"/>
                </a:solidFill>
                <a:ea typeface="Pretendard Regular"/>
              </a:rPr>
              <a:t>체이닝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 방식 제공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en-US" altLang="ko-KR" sz="2399" dirty="0" err="1">
                <a:solidFill>
                  <a:srgbClr val="323232"/>
                </a:solidFill>
                <a:ea typeface="Pretendard Regular"/>
              </a:rPr>
              <a:t>buildPanel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에서 최종 패널생성</a:t>
            </a:r>
            <a:endParaRPr lang="ko-KR" sz="2399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4245665" y="9084235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AuthBuilder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5803900"/>
            <a:ext cx="10160000" cy="254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5803900"/>
            <a:ext cx="127000" cy="254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301694" y="6937561"/>
            <a:ext cx="9574306" cy="850900"/>
          </a:xfrm>
          <a:prstGeom prst="rect">
            <a:avLst/>
          </a:prstGeom>
        </p:spPr>
        <p:txBody>
          <a:bodyPr rtlCol="0" anchor="ctr"/>
          <a:lstStyle/>
          <a:p>
            <a:pPr lvl="0">
              <a:lnSpc>
                <a:spcPct val="116199"/>
              </a:lnSpc>
            </a:pP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복잡한 객체 생성 로직을 단계별 메서드로 분리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ko-KR" altLang="en-US" sz="2399" dirty="0" err="1">
                <a:solidFill>
                  <a:srgbClr val="323232"/>
                </a:solidFill>
                <a:ea typeface="Pretendard Regular"/>
              </a:rPr>
              <a:t>체이닝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 방식으로 일관 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UI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생성</a:t>
            </a:r>
            <a:endParaRPr lang="en-US" altLang="ko-KR" sz="2399" dirty="0">
              <a:solidFill>
                <a:srgbClr val="323232"/>
              </a:solidFill>
              <a:ea typeface="Pretendard Regular"/>
            </a:endParaRPr>
          </a:p>
          <a:p>
            <a:pPr lvl="0">
              <a:lnSpc>
                <a:spcPct val="116199"/>
              </a:lnSpc>
            </a:pP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코드 중복 제거</a:t>
            </a:r>
            <a:r>
              <a:rPr lang="en-US" altLang="ko-KR" sz="2399" b="0" i="0" u="none" strike="noStrike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생성 과정 명확히 분리되어 가독성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향상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,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불완전한 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UI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생성 방지</a:t>
            </a:r>
            <a:endParaRPr lang="en-US" altLang="ko-KR" sz="2399" dirty="0">
              <a:solidFill>
                <a:srgbClr val="323232"/>
              </a:solidFill>
              <a:ea typeface="Pretendard Regular"/>
            </a:endParaRPr>
          </a:p>
          <a:p>
            <a:pPr lvl="0">
              <a:lnSpc>
                <a:spcPct val="116199"/>
              </a:lnSpc>
            </a:pP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동일한 </a:t>
            </a:r>
            <a:r>
              <a:rPr lang="ko-KR" altLang="en-US" sz="2399" b="0" i="0" u="none" strike="noStrike" dirty="0" err="1">
                <a:solidFill>
                  <a:srgbClr val="323232"/>
                </a:solidFill>
                <a:ea typeface="Pretendard Regular"/>
              </a:rPr>
              <a:t>빌더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 구조로 확장성 증가 </a:t>
            </a:r>
            <a:endParaRPr lang="ko-KR" sz="2399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262100" y="61341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Builder</a:t>
            </a:r>
            <a:r>
              <a:rPr lang="ko-KR" altLang="en-US" sz="2933" b="0" i="0" u="none" strike="noStrike" dirty="0">
                <a:solidFill>
                  <a:srgbClr val="323232"/>
                </a:solidFill>
                <a:latin typeface="Pretendard Bold"/>
              </a:rPr>
              <a:t> </a:t>
            </a:r>
            <a:endParaRPr lang="en" sz="2933" b="0" i="0" u="none" strike="noStrike" dirty="0">
              <a:solidFill>
                <a:srgbClr val="323232"/>
              </a:solidFill>
              <a:latin typeface="Pretendard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20223125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이나겸</a:t>
            </a:r>
          </a:p>
        </p:txBody>
      </p:sp>
      <p:pic>
        <p:nvPicPr>
          <p:cNvPr id="20" name="Picture 30">
            <a:extLst>
              <a:ext uri="{FF2B5EF4-FFF2-40B4-BE49-F238E27FC236}">
                <a16:creationId xmlns:a16="http://schemas.microsoft.com/office/drawing/2014/main" id="{734193BD-889D-89E3-16C4-AD2E979326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2900" y="4025901"/>
            <a:ext cx="5207490" cy="52451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1" name="Picture 32">
            <a:extLst>
              <a:ext uri="{FF2B5EF4-FFF2-40B4-BE49-F238E27FC236}">
                <a16:creationId xmlns:a16="http://schemas.microsoft.com/office/drawing/2014/main" id="{22A1D92B-55B3-C91F-B570-1C54C339E7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4700" y="8056033"/>
            <a:ext cx="7126512" cy="471593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2" name="TextBox 12">
            <a:extLst>
              <a:ext uri="{FF2B5EF4-FFF2-40B4-BE49-F238E27FC236}">
                <a16:creationId xmlns:a16="http://schemas.microsoft.com/office/drawing/2014/main" id="{3F23C1F2-6EFA-DA44-A7C3-08908B507A11}"/>
              </a:ext>
            </a:extLst>
          </p:cNvPr>
          <p:cNvSpPr txBox="1"/>
          <p:nvPr/>
        </p:nvSpPr>
        <p:spPr>
          <a:xfrm>
            <a:off x="14303935" y="10989982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399" b="0" i="0" u="none" strike="noStrike" dirty="0" err="1">
                <a:solidFill>
                  <a:srgbClr val="323232"/>
                </a:solidFill>
                <a:ea typeface="Pretendard Regular"/>
              </a:rPr>
              <a:t>빌더가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 생성한 </a:t>
            </a:r>
            <a:r>
              <a:rPr lang="en-US" altLang="ko-KR" sz="2399" b="0" i="0" u="none" strike="noStrike" dirty="0">
                <a:solidFill>
                  <a:srgbClr val="323232"/>
                </a:solidFill>
                <a:ea typeface="Pretendard Regular"/>
              </a:rPr>
              <a:t>UI </a:t>
            </a:r>
            <a:r>
              <a:rPr lang="ko-KR" altLang="en-US" sz="2399" b="0" i="0" u="none" strike="noStrike" dirty="0">
                <a:solidFill>
                  <a:srgbClr val="323232"/>
                </a:solidFill>
                <a:ea typeface="Pretendard Regular"/>
              </a:rPr>
              <a:t>컴포넌트를 실제 화면 구성 요소로 </a:t>
            </a:r>
            <a:r>
              <a:rPr lang="ko-KR" altLang="en-US" sz="2399" b="0" i="0" u="none" strike="noStrike" dirty="0" err="1">
                <a:solidFill>
                  <a:srgbClr val="323232"/>
                </a:solidFill>
                <a:ea typeface="Pretendard Regular"/>
              </a:rPr>
              <a:t>래핑</a:t>
            </a:r>
            <a:endParaRPr lang="en-US" altLang="ko-KR" sz="2399" b="0" i="0" u="none" strike="noStrike" dirty="0">
              <a:solidFill>
                <a:srgbClr val="323232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동일한 </a:t>
            </a:r>
            <a:r>
              <a:rPr lang="ko-KR" altLang="en-US" sz="2399" dirty="0" err="1">
                <a:solidFill>
                  <a:srgbClr val="323232"/>
                </a:solidFill>
                <a:ea typeface="Pretendard Regular"/>
              </a:rPr>
              <a:t>빌더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 구조를 활용하여 로그인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/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회원가입 </a:t>
            </a:r>
            <a:r>
              <a:rPr lang="en-US" altLang="ko-KR" sz="2399" dirty="0">
                <a:solidFill>
                  <a:srgbClr val="323232"/>
                </a:solidFill>
                <a:ea typeface="Pretendard Regular"/>
              </a:rPr>
              <a:t>UI </a:t>
            </a:r>
            <a:r>
              <a:rPr lang="ko-KR" altLang="en-US" sz="2399" dirty="0">
                <a:solidFill>
                  <a:srgbClr val="323232"/>
                </a:solidFill>
                <a:ea typeface="Pretendard Regular"/>
              </a:rPr>
              <a:t>재사용성 높게 구현</a:t>
            </a:r>
            <a:endParaRPr lang="ko-KR" sz="2399" b="0" i="0" u="none" strike="noStrike" dirty="0">
              <a:solidFill>
                <a:srgbClr val="323232"/>
              </a:solidFill>
              <a:ea typeface="Pretendard Regular"/>
            </a:endParaRPr>
          </a:p>
        </p:txBody>
      </p:sp>
      <p:sp>
        <p:nvSpPr>
          <p:cNvPr id="23" name="TextBox 13">
            <a:extLst>
              <a:ext uri="{FF2B5EF4-FFF2-40B4-BE49-F238E27FC236}">
                <a16:creationId xmlns:a16="http://schemas.microsoft.com/office/drawing/2014/main" id="{0F8C0427-E622-2DBF-EFCA-521CDA1A09A7}"/>
              </a:ext>
            </a:extLst>
          </p:cNvPr>
          <p:cNvSpPr txBox="1"/>
          <p:nvPr/>
        </p:nvSpPr>
        <p:spPr>
          <a:xfrm>
            <a:off x="14247906" y="10391214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 dirty="0">
                <a:solidFill>
                  <a:srgbClr val="323232"/>
                </a:solidFill>
                <a:latin typeface="Pretendard Bold"/>
              </a:rPr>
              <a:t>LoginPanel, AuthPanel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20223125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이나겸</a:t>
            </a:r>
          </a:p>
        </p:txBody>
      </p:sp>
      <p:pic>
        <p:nvPicPr>
          <p:cNvPr id="5" name="Picture 18">
            <a:extLst>
              <a:ext uri="{FF2B5EF4-FFF2-40B4-BE49-F238E27FC236}">
                <a16:creationId xmlns:a16="http://schemas.microsoft.com/office/drawing/2014/main" id="{1AAD817A-A6A0-E534-E81C-228510874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6" y="6096000"/>
            <a:ext cx="8938248" cy="64008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Picture 20">
            <a:extLst>
              <a:ext uri="{FF2B5EF4-FFF2-40B4-BE49-F238E27FC236}">
                <a16:creationId xmlns:a16="http://schemas.microsoft.com/office/drawing/2014/main" id="{2BE13C6B-1E49-3D19-061D-E0A787618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0" y="3282950"/>
            <a:ext cx="9855200" cy="709053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" name="Picture 22">
            <a:extLst>
              <a:ext uri="{FF2B5EF4-FFF2-40B4-BE49-F238E27FC236}">
                <a16:creationId xmlns:a16="http://schemas.microsoft.com/office/drawing/2014/main" id="{7508123D-E500-9DE2-CF40-DF8CADBE55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71602" y="1257300"/>
            <a:ext cx="8556229" cy="6096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594100"/>
            <a:ext cx="14846300" cy="57912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92200" y="889000"/>
            <a:ext cx="60579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전략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2200" y="2540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Strategy Pattern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900" y="7569200"/>
            <a:ext cx="8826500" cy="2209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1900" y="7569200"/>
            <a:ext cx="114300" cy="2209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5621000" y="8674100"/>
            <a:ext cx="8064500" cy="736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검증을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위한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메서드를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정의하는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인터페이스</a:t>
            </a:r>
          </a:p>
          <a:p>
            <a:pPr lvl="0" algn="l">
              <a:lnSpc>
                <a:spcPct val="116199"/>
              </a:lnSpc>
            </a:pP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validate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메서드를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정의하여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모든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검증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클래스를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동일한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방식으로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다룸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21000" y="7861300"/>
            <a:ext cx="4724400" cy="4572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549" b="0" i="0" u="none" strike="noStrike">
                <a:solidFill>
                  <a:srgbClr val="323232"/>
                </a:solidFill>
                <a:latin typeface="Pretendard Bold"/>
              </a:rPr>
              <a:t>Strategy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900" y="10464800"/>
            <a:ext cx="8826500" cy="2209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01900" y="10464800"/>
            <a:ext cx="114300" cy="2209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5621000" y="11391900"/>
            <a:ext cx="8064500" cy="11176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확인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주간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최대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이용시간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제한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최대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횟수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제한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등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규칙에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따라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서로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다른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검증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로직을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수행한다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</a:p>
          <a:p>
            <a:pPr lvl="0" algn="l">
              <a:lnSpc>
                <a:spcPct val="116199"/>
              </a:lnSpc>
            </a:pP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-&gt;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검증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정책이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변경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및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추가되어도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Context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코드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수정없이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전략만</a:t>
            </a:r>
            <a:r>
              <a:rPr lang="en-US" sz="2085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085" b="0" i="0" u="none" strike="noStrike">
                <a:solidFill>
                  <a:srgbClr val="323232"/>
                </a:solidFill>
                <a:ea typeface="Pretendard Regular"/>
              </a:rPr>
              <a:t>교체됨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21000" y="10744200"/>
            <a:ext cx="4724400" cy="4572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549" b="0" i="0" u="none" strike="noStrike">
                <a:solidFill>
                  <a:srgbClr val="323232"/>
                </a:solidFill>
                <a:latin typeface="Pretendard Bold"/>
              </a:rPr>
              <a:t>Concrete Strategy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01900" y="3073400"/>
            <a:ext cx="8826500" cy="3810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01900" y="3073400"/>
            <a:ext cx="114300" cy="381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5582900" y="3378200"/>
            <a:ext cx="4724400" cy="457200"/>
          </a:xfrm>
          <a:prstGeom prst="rect">
            <a:avLst/>
          </a:prstGeom>
        </p:spPr>
        <p:txBody>
          <a:bodyPr rtlCol="0" anchor="ctr"/>
          <a:lstStyle/>
          <a:p>
            <a:pPr lvl="1" algn="l">
              <a:lnSpc>
                <a:spcPct val="116199"/>
              </a:lnSpc>
            </a:pPr>
            <a:r>
              <a:rPr lang="en" sz="2549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59100" y="3949700"/>
            <a:ext cx="7772400" cy="10668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규칙이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계속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변경될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가능성이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높고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if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분기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증가로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코드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복잡도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상승</a:t>
            </a:r>
          </a:p>
          <a:p>
            <a:pPr lvl="0" algn="l">
              <a:lnSpc>
                <a:spcPct val="116199"/>
              </a:lnSpc>
            </a:pP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변경마다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메서드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수정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필요하여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유지보수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어렵고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하나의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클래스에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집중되서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  </a:t>
            </a:r>
          </a:p>
          <a:p>
            <a:pPr lvl="0" algn="l">
              <a:lnSpc>
                <a:spcPct val="116199"/>
              </a:lnSpc>
            </a:pP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   SRP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위반함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59100" y="5257800"/>
            <a:ext cx="4724400" cy="4572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549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549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659100" y="5765800"/>
            <a:ext cx="8420100" cy="711200"/>
          </a:xfrm>
          <a:prstGeom prst="rect">
            <a:avLst/>
          </a:prstGeom>
        </p:spPr>
        <p:txBody>
          <a:bodyPr rtlCol="0" anchor="t"/>
          <a:lstStyle/>
          <a:p>
            <a:pPr lvl="0" algn="l">
              <a:lnSpc>
                <a:spcPct val="116199"/>
              </a:lnSpc>
            </a:pP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-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규칙을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전략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객체로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분리해서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검증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방법을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캡슐화</a:t>
            </a:r>
          </a:p>
          <a:p>
            <a:pPr lvl="0" algn="l">
              <a:lnSpc>
                <a:spcPct val="116199"/>
              </a:lnSpc>
            </a:pP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- Context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에서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전략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조합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/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실행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변경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클래스만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추가하면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되어서</a:t>
            </a:r>
            <a:r>
              <a:rPr lang="en-US" sz="2001" b="0" i="0" u="none" strike="noStrike">
                <a:solidFill>
                  <a:srgbClr val="000000"/>
                </a:solidFill>
                <a:latin typeface="Pretendard Regular"/>
              </a:rPr>
              <a:t> SRP/OCP </a:t>
            </a:r>
            <a:r>
              <a:rPr lang="ko-KR" sz="2001" b="0" i="0" u="none" strike="noStrike">
                <a:solidFill>
                  <a:srgbClr val="000000"/>
                </a:solidFill>
                <a:ea typeface="Pretendard Regular"/>
              </a:rPr>
              <a:t>충족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20212991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심동진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20212991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심동진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0202B-AE7F-DA34-5C6E-90610686E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950" y="4648200"/>
            <a:ext cx="12877800" cy="6869633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4864100"/>
            <a:ext cx="14630400" cy="6223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12900" y="1765300"/>
            <a:ext cx="8699500" cy="15367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템플릿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메서드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Template Method Pattern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2108200"/>
            <a:ext cx="127000" cy="276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2108200"/>
            <a:ext cx="10096500" cy="27559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262100" y="2946400"/>
            <a:ext cx="9220200" cy="419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-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로직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반복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코드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유지보수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어려움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62100" y="24384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36700" y="4000500"/>
            <a:ext cx="9220200" cy="4191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-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흐름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추상화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필요한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부분만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재정의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제거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/ SRP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만족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36700" y="34290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9271000"/>
            <a:ext cx="10160000" cy="2540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500" y="9271000"/>
            <a:ext cx="127000" cy="254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262100" y="105537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각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리포지토리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데이터에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맞게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저장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방식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태그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래퍼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생성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방식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등을</a:t>
            </a:r>
          </a:p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개별적으로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데이터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구조만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다르고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흐름은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동일할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매우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적합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62100" y="96012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Concrete Class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5803900"/>
            <a:ext cx="10160000" cy="2540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500" y="5803900"/>
            <a:ext cx="127000" cy="2540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262100" y="70739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데이터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흐름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(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템플릿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메서드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)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정의</a:t>
            </a:r>
          </a:p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프로세스는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유지하고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변화하는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부분만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하위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클래스에서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재정의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62100" y="61341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Abstract Class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20212991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심동진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20212991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심동진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BFA17C91-5109-55E3-4049-90E08C916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4801489"/>
            <a:ext cx="15956473" cy="5612511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커맨드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Command Pattern -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전체</a:t>
            </a: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강의실</a:t>
            </a: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예약</a:t>
            </a:r>
            <a:r>
              <a:rPr lang="en-US" sz="3199" b="0" i="1" u="none" strike="noStrike">
                <a:solidFill>
                  <a:srgbClr val="323232"/>
                </a:solidFill>
                <a:latin typeface="Baskervville Regular"/>
              </a:rPr>
              <a:t> </a:t>
            </a:r>
            <a:r>
              <a:rPr lang="ko-KR" sz="3199" b="0" i="1" u="none" strike="noStrike">
                <a:solidFill>
                  <a:srgbClr val="323232"/>
                </a:solidFill>
                <a:ea typeface="Baskervville Regular"/>
              </a:rPr>
              <a:t>관리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2108200"/>
            <a:ext cx="127000" cy="276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9500" y="2108200"/>
            <a:ext cx="10096500" cy="2755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4262100" y="2946400"/>
            <a:ext cx="9525000" cy="4191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수정시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백업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부재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문제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작업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취소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매커니즘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부재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연쇄적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코드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수정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문재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262100" y="24384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36700" y="3911600"/>
            <a:ext cx="9220200" cy="8509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백업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Undo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기능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추가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명령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히스토리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관리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Command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기반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구조로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확장성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확보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(OCP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만족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36700" y="34290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7912100"/>
            <a:ext cx="10160000" cy="384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7912100"/>
            <a:ext cx="127000" cy="38481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4287500" y="88011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승인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거부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삭제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수정과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같이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서로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다른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각각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독립된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Command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클래스로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구현한다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62100" y="82423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Concrete Command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41400" y="5054600"/>
            <a:ext cx="10160000" cy="2540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41400" y="5054600"/>
            <a:ext cx="127000" cy="25400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4211300" y="59055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모든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명령들이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따라야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규약을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정의한다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36700" y="53848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Command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500" y="4076700"/>
            <a:ext cx="12065000" cy="88646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4236700" y="69469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클라이언트가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보낸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Command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실행하고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실행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이력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관리를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담당한다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62100" y="64262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Invoker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300200" y="10541000"/>
            <a:ext cx="9283700" cy="8509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Repository: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데이터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저장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삭제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조회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등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핵심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비즈니스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로직을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처리한다</a:t>
            </a:r>
          </a:p>
          <a:p>
            <a:pPr lvl="0" algn="l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Subject: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작업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완료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Observer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에게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알림을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전달하는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후속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기능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담당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74800" y="99949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Receiver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20212998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강준화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20212998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강준화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B8C483CD-47FA-602C-4ED3-7F8FF1D93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5638800"/>
            <a:ext cx="22543242" cy="2362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0" y="3276600"/>
            <a:ext cx="11442700" cy="99695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옵저버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패턴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Observer Pattern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1651000"/>
            <a:ext cx="127000" cy="3175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79500" y="1651000"/>
            <a:ext cx="10096500" cy="31750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4262100" y="2374900"/>
            <a:ext cx="9220200" cy="8509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코드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후속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처리의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독립성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부족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알림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방식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확장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어려움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일대다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알림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구조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미지원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62100" y="18542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1.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문제점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36700" y="3759200"/>
            <a:ext cx="9220200" cy="8509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알림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로그를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옵저버로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분리하여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일대다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자동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갱신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구조를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적용</a:t>
            </a:r>
          </a:p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중복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제거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독립성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확보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,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알림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확장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용이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(OCP </a:t>
            </a:r>
            <a:r>
              <a:rPr lang="ko-KR" sz="2384" b="0" i="0" u="none" strike="noStrike">
                <a:solidFill>
                  <a:srgbClr val="323232"/>
                </a:solidFill>
                <a:ea typeface="Pretendard Regular"/>
              </a:rPr>
              <a:t>만족</a:t>
            </a:r>
            <a:r>
              <a:rPr lang="en-US" sz="2384" b="0" i="0" u="none" strike="noStrike">
                <a:solidFill>
                  <a:srgbClr val="323232"/>
                </a:solidFill>
                <a:latin typeface="Pretendard Regular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36700" y="3276600"/>
            <a:ext cx="5410200" cy="5207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914" b="0" i="0" u="none" strike="noStrike">
                <a:solidFill>
                  <a:srgbClr val="323232"/>
                </a:solidFill>
                <a:latin typeface="Pretendard Bold"/>
              </a:rPr>
              <a:t>2. </a:t>
            </a:r>
            <a:r>
              <a:rPr lang="ko-KR" sz="2914" b="0" i="0" u="none" strike="noStrike">
                <a:solidFill>
                  <a:srgbClr val="323232"/>
                </a:solidFill>
                <a:ea typeface="Pretendard Bold"/>
              </a:rPr>
              <a:t>해결방안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9271000"/>
            <a:ext cx="10160000" cy="2540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500" y="9271000"/>
            <a:ext cx="127000" cy="254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4262100" y="99568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Subject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로부터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이벤트를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전달받아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각각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알림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생성과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로그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기록을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수행하는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 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것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62100" y="94234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Concrete Observer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79500" y="5778500"/>
            <a:ext cx="10160000" cy="2540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500" y="5778500"/>
            <a:ext cx="127000" cy="2540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236700" y="65532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상태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변경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등록된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모든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옵저버에게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알림을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전달하는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클래스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62100" y="59690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Subject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62100" y="76454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변경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이벤트를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전달받아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처리하기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위한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공통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메서드를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정의한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인터페이스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87500" y="70485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Observer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62100" y="11137900"/>
            <a:ext cx="9283700" cy="431800"/>
          </a:xfrm>
          <a:prstGeom prst="rect">
            <a:avLst/>
          </a:prstGeom>
        </p:spPr>
        <p:txBody>
          <a:bodyPr rtlCol="0" anchor="ctr"/>
          <a:lstStyle/>
          <a:p>
            <a:pPr lvl="0" algn="l">
              <a:lnSpc>
                <a:spcPct val="116199"/>
              </a:lnSpc>
            </a:pP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옵저버에게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전달되는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예약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정보를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담는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데이터</a:t>
            </a:r>
            <a:r>
              <a:rPr lang="en-US" sz="2399" b="0" i="0" u="none" strike="noStrike">
                <a:solidFill>
                  <a:srgbClr val="323232"/>
                </a:solidFill>
                <a:latin typeface="Pretendard Regular"/>
              </a:rPr>
              <a:t> </a:t>
            </a:r>
            <a:r>
              <a:rPr lang="ko-KR" sz="2399" b="0" i="0" u="none" strike="noStrike">
                <a:solidFill>
                  <a:srgbClr val="323232"/>
                </a:solidFill>
                <a:ea typeface="Pretendard Regular"/>
              </a:rPr>
              <a:t>모델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87500" y="10541000"/>
            <a:ext cx="5435600" cy="520700"/>
          </a:xfrm>
          <a:prstGeom prst="rect">
            <a:avLst/>
          </a:prstGeom>
        </p:spPr>
        <p:txBody>
          <a:bodyPr rtlCol="0" anchor="ctr"/>
          <a:lstStyle/>
          <a:p>
            <a:pPr marL="342900" lvl="1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" sz="2933" b="0" i="0" u="none" strike="noStrike">
                <a:solidFill>
                  <a:srgbClr val="323232"/>
                </a:solidFill>
                <a:latin typeface="Pretendard Bold"/>
              </a:rPr>
              <a:t>Data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20212998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강준화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2900" y="1651000"/>
            <a:ext cx="8699500" cy="1765300"/>
          </a:xfrm>
          <a:prstGeom prst="rect">
            <a:avLst/>
          </a:prstGeom>
        </p:spPr>
        <p:txBody>
          <a:bodyPr lIns="0" tIns="137581" rIns="0" bIns="137581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테스트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12900" y="3302000"/>
            <a:ext cx="8483600" cy="6477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Test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6000" y="3556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>
                <a:solidFill>
                  <a:srgbClr val="000000"/>
                </a:solidFill>
                <a:latin typeface="Pretendard Regular"/>
              </a:rPr>
              <a:t>: 20212998 </a:t>
            </a:r>
            <a:r>
              <a:rPr lang="ko-KR" sz="3857" b="0" i="0" u="none" strike="noStrike">
                <a:solidFill>
                  <a:srgbClr val="000000"/>
                </a:solidFill>
                <a:ea typeface="Pretendard Regular"/>
              </a:rPr>
              <a:t>강준화</a:t>
            </a:r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3CC86B96-4173-0E22-F4F5-E29FB86B1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5943600"/>
            <a:ext cx="21816041" cy="2286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82600"/>
            <a:ext cx="6692900" cy="1536700"/>
          </a:xfrm>
          <a:prstGeom prst="rect">
            <a:avLst/>
          </a:prstGeom>
        </p:spPr>
        <p:txBody>
          <a:bodyPr lIns="0" tIns="137579" rIns="0" bIns="137579" rtlCol="0" anchor="ctr"/>
          <a:lstStyle/>
          <a:p>
            <a:pPr lvl="0" algn="l">
              <a:lnSpc>
                <a:spcPct val="95449"/>
              </a:lnSpc>
            </a:pP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프로그램</a:t>
            </a:r>
            <a:r>
              <a:rPr lang="en-US" sz="8666" b="0" i="0" u="none" strike="noStrike">
                <a:solidFill>
                  <a:srgbClr val="323232"/>
                </a:solidFill>
                <a:latin typeface="Pretendard SemiBold"/>
              </a:rPr>
              <a:t> </a:t>
            </a:r>
            <a:r>
              <a:rPr lang="ko-KR" sz="8666" b="0" i="0" u="none" strike="noStrike">
                <a:solidFill>
                  <a:srgbClr val="323232"/>
                </a:solidFill>
                <a:ea typeface="Pretendard SemiBold"/>
              </a:rPr>
              <a:t>평가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17700"/>
            <a:ext cx="8483600" cy="571500"/>
          </a:xfrm>
          <a:prstGeom prst="rect">
            <a:avLst/>
          </a:prstGeom>
        </p:spPr>
        <p:txBody>
          <a:bodyPr lIns="0" tIns="50798" rIns="0" bIns="50798" rtlCol="0" anchor="ctr"/>
          <a:lstStyle/>
          <a:p>
            <a:pPr lvl="0" algn="l">
              <a:lnSpc>
                <a:spcPct val="95449"/>
              </a:lnSpc>
            </a:pPr>
            <a:r>
              <a:rPr lang="en" sz="3199" b="0" i="1" u="none" strike="noStrike">
                <a:solidFill>
                  <a:srgbClr val="323232"/>
                </a:solidFill>
                <a:latin typeface="Baskervville Regular"/>
              </a:rPr>
              <a:t>Background Factors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5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445165"/>
              </p:ext>
            </p:extLst>
          </p:nvPr>
        </p:nvGraphicFramePr>
        <p:xfrm>
          <a:off x="1028700" y="2870200"/>
          <a:ext cx="22510521" cy="10309136"/>
        </p:xfrm>
        <a:graphic>
          <a:graphicData uri="http://schemas.openxmlformats.org/drawingml/2006/table">
            <a:tbl>
              <a:tblPr/>
              <a:tblGrid>
                <a:gridCol w="460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5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7073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설계</a:t>
                      </a:r>
                      <a:r>
                        <a:rPr lang="en-US" sz="2666" b="0" i="0" u="none" strike="noStrike">
                          <a:solidFill>
                            <a:srgbClr val="323232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완성도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323232"/>
                          </a:solidFill>
                          <a:ea typeface="Pretendard 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싱글턴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2400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altLang="ko-KR" sz="24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인스턴스가 하나만 생성되도록 제어해 전체 시스템에서 동일한 상태를 공유할 수 있게 하였으며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전역 접근이 필요한 핵심 관리자 객체를 일관성 있게 사용할 수 있도록 적용함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빌더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2400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altLang="ko-KR" sz="2400" dirty="0"/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복잡한 객체 생성 과정을 단계별로 분리하고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필요한 구성 요소만 선택적으로 조립할 수 있도록 </a:t>
                      </a:r>
                      <a:endParaRPr lang="en-US" altLang="ko-KR" sz="2400" kern="1200" dirty="0">
                        <a:solidFill>
                          <a:schemeClr val="tx1"/>
                        </a:solidFill>
                        <a:effectLst/>
                        <a:latin typeface="Pretendard Regular" panose="020B0600000101010101" charset="-127"/>
                        <a:ea typeface="Pretendard Regular" panose="020B0600000101010101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구현하여 객체 생성의 가독성</a:t>
                      </a:r>
                      <a:r>
                        <a:rPr lang="en-US" altLang="ko-KR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, </a:t>
                      </a:r>
                      <a:r>
                        <a:rPr lang="ko-KR" altLang="en-US" sz="2400" kern="1200" dirty="0">
                          <a:solidFill>
                            <a:schemeClr val="tx1"/>
                          </a:solidFill>
                          <a:effectLst/>
                          <a:latin typeface="Pretendard Regular" panose="020B0600000101010101" charset="-127"/>
                          <a:ea typeface="Pretendard Regular" panose="020B0600000101010101" charset="-127"/>
                          <a:cs typeface="+mn-cs"/>
                        </a:rPr>
                        <a:t>유연성을 높이도록 적용함</a:t>
                      </a:r>
                    </a:p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전략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검증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로직을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전략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단위로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분리하여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이용자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상황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예약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조건에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따라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 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83000"/>
                        </a:lnSpc>
                      </a:pP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필요한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검증만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유연하게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조합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재사용할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수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있도록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적용함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템플릿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메서드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YAML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저장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·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로딩의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공통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알고리즘을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템플릿으로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정의하고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저장소별로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필요한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단계만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구현하도록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하여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 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중복을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제거하고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재사용성을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높이도록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적용함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9253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퍼사드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클라이언트가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SystemController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단일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인터페이스로만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접근하고</a:t>
                      </a:r>
                      <a:endParaRPr lang="en-US" sz="1100"/>
                    </a:p>
                    <a:p>
                      <a:pPr lvl="0" algn="ctr">
                        <a:lnSpc>
                          <a:spcPct val="91714"/>
                        </a:lnSpc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하위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시스템은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단일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인터페이스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아래에서만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처리하도록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구현됨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커맨드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r>
                        <a:rPr lang="en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요청을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Command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객체로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캡슐화해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호출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실행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로직을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분리하고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, 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83000"/>
                        </a:lnSpc>
                      </a:pP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추가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기존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코드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 err="1">
                          <a:solidFill>
                            <a:srgbClr val="323232"/>
                          </a:solidFill>
                          <a:ea typeface="Pretendard Regular"/>
                        </a:rPr>
                        <a:t>수정없이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확장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가능한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구조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(OCP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충족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)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로</a:t>
                      </a:r>
                      <a:r>
                        <a:rPr lang="en-US" sz="2399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 dirty="0">
                          <a:solidFill>
                            <a:srgbClr val="323232"/>
                          </a:solidFill>
                          <a:ea typeface="Pretendard Regular"/>
                        </a:rPr>
                        <a:t>구현함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6009"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옵저버</a:t>
                      </a:r>
                      <a:r>
                        <a:rPr lang="en-US" sz="2399" b="0" i="0" u="none" strike="noStrike">
                          <a:solidFill>
                            <a:srgbClr val="323232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399" b="0" i="0" u="none" strike="noStrike">
                          <a:solidFill>
                            <a:srgbClr val="323232"/>
                          </a:solidFill>
                          <a:ea typeface="Pretendard Regular"/>
                        </a:rPr>
                        <a:t>패턴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2400" b="0" i="0" u="none" strike="noStrike" dirty="0">
                          <a:solidFill>
                            <a:srgbClr val="323232"/>
                          </a:solidFill>
                          <a:latin typeface="Pretendard Regular"/>
                        </a:rPr>
                        <a:t>100%</a:t>
                      </a:r>
                      <a:endParaRPr lang="en-US" altLang="ko-KR" sz="2400" dirty="0"/>
                    </a:p>
                    <a:p>
                      <a:pPr lvl="0" algn="ctr">
                        <a:lnSpc>
                          <a:spcPct val="107899"/>
                        </a:lnSpc>
                        <a:defRPr/>
                      </a:pP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예약 상태 변경 이벤트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(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승인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거부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취소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/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수정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)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를 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Subject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가 감지하고 등록된 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Observer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들에게 자동으로 통지하여 </a:t>
                      </a:r>
                      <a:endParaRPr lang="en-US" altLang="ko-KR" sz="22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알림 전송과 로그 기록을 독립적으로 처리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. SFR-409~412 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요구사항 구현으로 </a:t>
                      </a:r>
                      <a:endParaRPr lang="en-US" altLang="ko-KR" sz="22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  <a:p>
                      <a:pPr lvl="0" algn="ctr">
                        <a:lnSpc>
                          <a:spcPct val="83000"/>
                        </a:lnSpc>
                        <a:defRPr/>
                      </a:pPr>
                      <a:r>
                        <a:rPr lang="en-US" altLang="ko-KR" sz="22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NotificationObserver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와 </a:t>
                      </a:r>
                      <a:r>
                        <a:rPr lang="en-US" altLang="ko-KR" sz="2200" dirty="0" err="1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LoggingObserver</a:t>
                      </a:r>
                      <a:r>
                        <a:rPr lang="en-US" altLang="ko-KR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 </a:t>
                      </a:r>
                      <a:r>
                        <a:rPr lang="ko-KR" altLang="en-US" sz="2200" dirty="0">
                          <a:latin typeface="Pretendard Regular" panose="020B0600000101010101" charset="-127"/>
                          <a:ea typeface="Pretendard Regular" panose="020B0600000101010101" charset="-127"/>
                        </a:rPr>
                        <a:t>적용</a:t>
                      </a:r>
                      <a:endParaRPr lang="en-US" sz="2200" dirty="0">
                        <a:latin typeface="Pretendard Regular" panose="020B0600000101010101" charset="-127"/>
                        <a:ea typeface="Pretendard Regular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878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17665700" y="698500"/>
            <a:ext cx="5816600" cy="6858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ko-KR" sz="3857" b="0" i="0" u="none" strike="noStrike" dirty="0">
                <a:solidFill>
                  <a:srgbClr val="000000"/>
                </a:solidFill>
                <a:ea typeface="Pretendard Regular"/>
              </a:rPr>
              <a:t>발표자</a:t>
            </a:r>
            <a:r>
              <a:rPr lang="en-US" sz="3857" b="0" i="0" u="none" strike="noStrike" dirty="0">
                <a:solidFill>
                  <a:srgbClr val="000000"/>
                </a:solidFill>
                <a:latin typeface="Pretendard Regular"/>
              </a:rPr>
              <a:t>: 20212998 </a:t>
            </a:r>
            <a:r>
              <a:rPr lang="ko-KR" altLang="en-US" sz="3857" dirty="0">
                <a:solidFill>
                  <a:srgbClr val="000000"/>
                </a:solidFill>
                <a:latin typeface="Pretendard Regular"/>
                <a:ea typeface="Pretendard Regular"/>
              </a:rPr>
              <a:t>강준화</a:t>
            </a:r>
            <a:endParaRPr lang="ko-KR" sz="3857" b="0" i="0" u="none" strike="noStrike" dirty="0">
              <a:solidFill>
                <a:srgbClr val="000000"/>
              </a:solidFill>
              <a:ea typeface="Pretendard Regula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737600" y="5905500"/>
            <a:ext cx="9740900" cy="2578100"/>
          </a:xfrm>
          <a:prstGeom prst="rect">
            <a:avLst/>
          </a:prstGeom>
        </p:spPr>
        <p:txBody>
          <a:bodyPr lIns="0" tIns="137579" rIns="0" bIns="137579" rtlCol="0" anchor="ctr"/>
          <a:lstStyle/>
          <a:p>
            <a:pPr lvl="0" algn="l">
              <a:lnSpc>
                <a:spcPct val="95449"/>
              </a:lnSpc>
            </a:pPr>
            <a:r>
              <a:rPr lang="en" sz="12618" b="0" i="0" u="none" strike="noStrike">
                <a:solidFill>
                  <a:srgbClr val="323232"/>
                </a:solidFill>
                <a:ea typeface="Pretendard SemiBold"/>
              </a:rPr>
              <a:t>감사합니다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3114000" y="482600"/>
            <a:ext cx="762000" cy="431800"/>
          </a:xfrm>
          <a:prstGeom prst="rect">
            <a:avLst/>
          </a:prstGeom>
        </p:spPr>
        <p:txBody>
          <a:bodyPr lIns="0" tIns="33866" rIns="0" bIns="33866" rtlCol="0" anchor="ctr"/>
          <a:lstStyle/>
          <a:p>
            <a:pPr lvl="0" algn="r">
              <a:lnSpc>
                <a:spcPct val="95449"/>
              </a:lnSpc>
            </a:pPr>
            <a:r>
              <a:rPr lang="en" sz="2133" b="0" i="0" u="none" strike="noStrike" spc="43">
                <a:solidFill>
                  <a:srgbClr val="787878"/>
                </a:solidFill>
                <a:latin typeface="Pretendard Medium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1437</ep:Words>
  <ep:PresentationFormat>사용자 지정</ep:PresentationFormat>
  <ep:Paragraphs>265</ep:Paragraphs>
  <ep:Slides>23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ep:HeadingPairs>
  <ep:TitlesOfParts>
    <vt:vector size="24" baseType="lpstr">
      <vt:lpstr>Office Theme</vt:lpstr>
      <vt:lpstr>PowerPoint 프레젠테이션</vt:lpstr>
      <vt:lpstr>슬라이드 2</vt:lpstr>
      <vt:lpstr>슬라이드 3</vt:lpstr>
      <vt:lpstr>슬라이드 4</vt:lpstr>
      <vt:lpstr>PowerPoint 프레젠테이션</vt:lpstr>
      <vt:lpstr>슬라이드 6</vt:lpstr>
      <vt:lpstr>PowerPoint 프레젠테이션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임민욱</cp:lastModifiedBy>
  <dcterms:modified xsi:type="dcterms:W3CDTF">2025-11-29T17:34:21.030</dcterms:modified>
  <cp:revision>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